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 panose="020B0503020204020204" charset="-122"/>
              </a:rPr>
              <a:t>TradingAgents-CN Pro 项目介绍</a:t>
            </a:r>
            <a:endParaRPr sz="4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  <a:latin typeface="微软雅黑" panose="020B0503020204020204" charset="-122"/>
              </a:rPr>
              <a:t>企业级投研工作流产品（多智能体 + 大模型） | 版本 2.0.0 | 2026-02-27</a:t>
            </a:r>
            <a:endParaRPr sz="2000" b="0">
              <a:solidFill>
                <a:srgbClr val="40404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73737"/>
                </a:solidFill>
                <a:latin typeface="微软雅黑" panose="020B0503020204020204" charset="-122"/>
              </a:rPr>
              <a:t>定位：投研与复盘流程的企业级工作流产品；合规友好，不提供实盘交易指令。</a:t>
            </a:r>
            <a:endParaRPr sz="2000" b="0">
              <a:solidFill>
                <a:srgbClr val="3737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价值主张（我们交付什么价值）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175240" cy="458089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标准化：把投研方法论沉淀为可复用工作流模板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可追溯：任务中心留痕到节点级（输出/耗时/失败原因）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可管控：多模型统一接入，参数/用量/成本可控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可运营：模板版本化（灰度/回滚），统一口径与偏好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可交付：Docker Compose 私有化部署 + 权限/审计日志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可闭环：持仓分析 + 交易复盘 + 案例库沉淀</a:t>
            </a:r>
            <a:endParaRPr>
              <a:sym typeface="+mn-ea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Why now：大模型进场，但金融落地仍缺‘产品化’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972800" cy="276542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大模型能力已足够强，但‘投研→决策→复盘’是流程密集型工作，靠聊天很难规模化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落地关键不在模型本身，而在流程、追溯、管控、交付：能否形成可复制的方法论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机构真实痛点：口径不统一、结果不可复现、成本不可控、合规与审计难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机会：把投研方法论做成工作流与模板资产，沉淀组织能力与数据资产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我们的解法：把投研方法论产品化（工作流 + 模板 + 任务中心）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200400" cy="822960"/>
          </a:xfrm>
          <a:prstGeom prst="roundRect">
            <a:avLst/>
          </a:prstGeom>
          <a:solidFill>
            <a:srgbClr val="5B9BD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入口（业务闭环）
单股 / 批量 / 持仓 / 复盘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069080" y="1627632"/>
            <a:ext cx="502920" cy="41148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63440" y="1417320"/>
            <a:ext cx="3566160" cy="822960"/>
          </a:xfrm>
          <a:prstGeom prst="roundRect">
            <a:avLst/>
          </a:prstGeom>
          <a:solidFill>
            <a:srgbClr val="1F4E79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中枢（方法论引擎）
统一分析引擎 + 多智能体工作流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8366760" y="1627632"/>
            <a:ext cx="502920" cy="41148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1417320"/>
            <a:ext cx="2926080" cy="822960"/>
          </a:xfrm>
          <a:prstGeom prst="roundRect">
            <a:avLst/>
          </a:prstGeom>
          <a:solidFill>
            <a:srgbClr val="2F559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输出
报告 / 证据链 / 风险提示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3657600" cy="777240"/>
          </a:xfrm>
          <a:prstGeom prst="roundRect">
            <a:avLst/>
          </a:prstGeom>
          <a:solidFill>
            <a:srgbClr val="70AD4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可运营：模板体系
版本/灰度/回滚/偏好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2788920"/>
            <a:ext cx="3566160" cy="777240"/>
          </a:xfrm>
          <a:prstGeom prst="roundRect">
            <a:avLst/>
          </a:prstGeom>
          <a:solidFill>
            <a:srgbClr val="70AD4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可追溯：任务中心
进度/耗时/失败原因/重跑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12480" y="2788920"/>
            <a:ext cx="3474720" cy="777240"/>
          </a:xfrm>
          <a:prstGeom prst="roundRect">
            <a:avLst/>
          </a:prstGeom>
          <a:solidFill>
            <a:srgbClr val="70AD4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可管控：多模型治理
选择/参数/用量/成本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11155680" cy="777240"/>
          </a:xfrm>
          <a:prstGeom prst="roundRect">
            <a:avLst/>
          </a:prstGeom>
          <a:solidFill>
            <a:srgbClr val="ED7D31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可交付：私有化部署（Docker Compose） + 权限/审计日志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微软雅黑" panose="020B0503020204020204" charset="-122"/>
              </a:rPr>
              <a:t>一句话：不是‘聊天看盘’，而是把投研流程做成可配置、可追溯、可运营、可交付的企业级产品。</a:t>
            </a:r>
            <a:endParaRPr sz="1600" b="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产品形态与交付（企业级）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011680" cy="822960"/>
          </a:xfrm>
          <a:prstGeom prst="roundRect">
            <a:avLst/>
          </a:prstGeom>
          <a:solidFill>
            <a:srgbClr val="5B9B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用户/浏览器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743200" y="1627632"/>
            <a:ext cx="548640" cy="411480"/>
          </a:xfrm>
          <a:prstGeom prst="rightArrow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834640" cy="822960"/>
          </a:xfrm>
          <a:prstGeom prst="roundRect">
            <a:avLst/>
          </a:prstGeom>
          <a:solidFill>
            <a:srgbClr val="2F559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前端：Vue 3 + Element Plus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6309360" y="1627632"/>
            <a:ext cx="548640" cy="411480"/>
          </a:xfrm>
          <a:prstGeom prst="rightArrow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0" y="1417320"/>
            <a:ext cx="2743200" cy="822960"/>
          </a:xfrm>
          <a:prstGeom prst="roundRect">
            <a:avLst/>
          </a:prstGeom>
          <a:solidFill>
            <a:srgbClr val="1F4E7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后端：FastAPI API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9784080" y="1627632"/>
            <a:ext cx="548640" cy="411480"/>
          </a:xfrm>
          <a:prstGeom prst="rightArrow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24160" y="1417320"/>
            <a:ext cx="1463040" cy="822960"/>
          </a:xfrm>
          <a:prstGeom prst="roundRect">
            <a:avLst/>
          </a:prstGeom>
          <a:solidFill>
            <a:srgbClr val="1F4E7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Worker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63140" y="2786380"/>
            <a:ext cx="3657600" cy="777240"/>
          </a:xfrm>
          <a:prstGeom prst="roundRect">
            <a:avLst/>
          </a:prstGeom>
          <a:solidFill>
            <a:srgbClr val="70AD4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实时推送：SSE / WebSocket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40880" y="2743200"/>
            <a:ext cx="4572000" cy="777240"/>
          </a:xfrm>
          <a:prstGeom prst="roundRect">
            <a:avLst/>
          </a:prstGeom>
          <a:solidFill>
            <a:srgbClr val="70AD4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任务：分析队列 / 批量处理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99820" y="4023360"/>
            <a:ext cx="2614295" cy="822960"/>
          </a:xfrm>
          <a:prstGeom prst="roundRect">
            <a:avLst/>
          </a:prstGeom>
          <a:solidFill>
            <a:srgbClr val="ED7D3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Redis：队列 + 缓存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72195" y="4023360"/>
            <a:ext cx="3092450" cy="822960"/>
          </a:xfrm>
          <a:prstGeom prst="roundRect">
            <a:avLst/>
          </a:prstGeom>
          <a:solidFill>
            <a:srgbClr val="ED7D3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MongoDB：数据存储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42435" y="4023360"/>
            <a:ext cx="4148455" cy="822960"/>
          </a:xfrm>
          <a:prstGeom prst="roundRect">
            <a:avLst/>
          </a:prstGeom>
          <a:solidFill>
            <a:srgbClr val="5B9B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统一分析引擎+ 工作流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1338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微软雅黑" panose="020B0503020204020204" charset="-122"/>
              </a:rPr>
              <a:t>交付：Docker Compose 私有化一键部署；权限/审计日志/任务中心/实时推送，满足机构落地与运营。</a:t>
            </a:r>
            <a:endParaRPr sz="1600" b="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核心能力（v2.0）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8160385" cy="468884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统一分析引擎：跨入口字段对齐，结果一致、可复用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可视化工作流：节点/边编排，支持条件与循环（对辩/分支）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任务中心：进度、节点输出、耗时与重跑（可追溯、可审计）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模板体系：系统模板 + 用户模板，版本/灰度/回滚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多模型治理：统一接入，参数/用量/成本可控（供应商可替换）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闭环：持仓分析 + 交易复盘 + 案例库沉淀</a:t>
            </a:r>
            <a:endParaRPr>
              <a:sym typeface="+mn-ea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流程定制：可视化工作流 + 统一分析引擎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972800" cy="207264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把投研链路抽象为‘节点+边’：可视化增删节点、调整顺序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每个节点可配置模型/参数：能力与成本按需组合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支持分支/循环 + 模板复用：保存/版本化/一键执行，沉淀方法论资产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提示词定制：模板体系（可运营、可控、可回滚）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4085" y="1234440"/>
            <a:ext cx="7660640" cy="161099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系统模板：覆盖分析/研究/风控/交易/复盘等 Agent 类别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用户模板：派生/启停/版本管理，统一团队口径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与工作流联动：流程 × 模板 = 方法论可交付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920" y="3139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 panose="020B0503020204020204" charset="-122"/>
              </a:rPr>
              <a:t>运营机制（团队可复用）</a:t>
            </a:r>
            <a:endParaRPr sz="22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0920" y="3860799"/>
            <a:ext cx="23317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版本管理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08400" y="3931919"/>
            <a:ext cx="23317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灰度发布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7740" y="4845684"/>
            <a:ext cx="23317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一键回滚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8400" y="4845684"/>
            <a:ext cx="233172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分层权限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0920" y="5830570"/>
            <a:ext cx="5029200" cy="7626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800" b="0">
                <a:solidFill>
                  <a:srgbClr val="464646"/>
                </a:solidFill>
                <a:latin typeface="微软雅黑" panose="020B0503020204020204" charset="-122"/>
              </a:rPr>
              <a:t>让提示词从‘个人手艺’变成‘组织资产’：可追溯、可运营、可复制。</a:t>
            </a:r>
            <a:endParaRPr sz="1800" b="0">
              <a:solidFill>
                <a:srgbClr val="46464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闭环能力：持仓分析 + 交易复盘（PRO）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6030" y="1280160"/>
            <a:ext cx="8549640" cy="458089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组合体检：市值/成本/盈亏、行业分布、集中度与风险等级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持仓流水：加减仓、分红、拆并股、成本调整等完整记录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单只持仓诊断：结合买入成本/权重/持仓天数给出建议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单笔复盘：纪律、情绪、仓位、执行偏差与改进建议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阶段复盘：周/月/季度汇总胜率、回撤、盈亏比，生成行动计划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案例库沉淀：复盘可保存打标签，形成组织/个人知识资产</a:t>
            </a:r>
            <a:endParaRPr>
              <a:sym typeface="+mn-ea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为什么是我们（对比通用大模型）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010" y="1266825"/>
            <a:ext cx="10972800" cy="276542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通用大模型：强在对话；弱在流程治理（追溯/管控/交付）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我们：工作流驱动——把‘分析→决策→复盘’沉淀为可复用方法论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我们：任务中心节点级留痕——审计/复现/重跑/迭代都更容易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我们：多模型治理——统一接入，供应商可替换，成本可控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护城河（为什么你能持续赢）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7110" y="1339850"/>
            <a:ext cx="8880475" cy="458089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工作流资产：模板/节点/参数沉淀为可复用方法论库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模板资产：版本化、灰度、回滚，形成组织级标准口径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复盘与案例库：行为与结果沉淀为私有数据资产，越用越强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合规友好交付：私有化部署、权限与审计日志，机构采用门槛低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多模型可替换：供应商变化不伤筋骨，成本优化与议价空间大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可扩展：新增节点/工具/Agent 成本低，迭代速度快</a:t>
            </a:r>
            <a:endParaRPr>
              <a:sym typeface="+mn-ea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商业化与合作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240520" cy="458089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ToB：私有化部署 / 授权订阅 / 定制开发 / 集成服务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交付物：工作流模板、模板体系、报告导出与数据对接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增值点：数据治理、成本优化、合规模板与审计能力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ToC：Pro 订阅（批量分析、持仓/复盘、报告与历史沉淀）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教育版：课程/训练营/案例库与作业评测（可选）</a:t>
            </a:r>
            <a:endParaRPr>
              <a:sym typeface="+mn-ea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• 合作方：券商投研、资管、量化团队、教育培训机构</a:t>
            </a:r>
            <a:endParaRPr>
              <a:sym typeface="+mn-ea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 panose="020B0503020204020204" charset="-122"/>
              </a:rPr>
              <a:t>路线图与合作方式</a:t>
            </a:r>
            <a:endParaRPr sz="30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972800" cy="276542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近期：更多行业工作流模板与报告标准化（提升交付效率）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中期：组织协作（团队模板共享/权限分层/审计增强）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远期：模板市场与生态扩展（更多资产类别与场景）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20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合作方式：POC试点 → 私有化部署/授权订阅 → 深度定制与集成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97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 panose="020B0503020204020204" charset="-122"/>
              </a:rPr>
              <a:t>谢谢｜欢迎交流：投资/合作/私有化落地/联合交付</a:t>
            </a:r>
            <a:endParaRPr sz="18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2152</Words>
  <Application>WPS 演示</Application>
  <PresentationFormat>On-screen Show (4:3)</PresentationFormat>
  <Paragraphs>143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刘平</cp:lastModifiedBy>
  <cp:revision>2</cp:revision>
  <dcterms:created xsi:type="dcterms:W3CDTF">2013-01-27T09:14:00Z</dcterms:created>
  <dcterms:modified xsi:type="dcterms:W3CDTF">2026-02-27T03:08:17Z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9A6C29011E194786A9E52C48BCD7D88B_12</vt:lpwstr>
  </property>
</Properties>
</file>